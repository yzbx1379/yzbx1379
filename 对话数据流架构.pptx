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609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0F7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00F7FF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97280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对话数据流架构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731520" y="20116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F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Trae AI 沙盒 — 从用户输入到工具执行的完整链路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31520" y="2651760"/>
            <a:ext cx="1645920" cy="320040"/>
          </a:xfrm>
          <a:prstGeom prst="roundRect">
            <a:avLst>
              <a:gd name="adj" fmla="val 17143"/>
            </a:avLst>
          </a:prstGeom>
          <a:solidFill>
            <a:srgbClr val="161B22"/>
          </a:solidFill>
          <a:ln w="6350">
            <a:solidFill>
              <a:srgbClr val="58A6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265176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8A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Kata Containers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560320" y="2651760"/>
            <a:ext cx="1645920" cy="320040"/>
          </a:xfrm>
          <a:prstGeom prst="roundRect">
            <a:avLst>
              <a:gd name="adj" fmla="val 17143"/>
            </a:avLst>
          </a:prstGeom>
          <a:solidFill>
            <a:srgbClr val="161B22"/>
          </a:solidFill>
          <a:ln w="6350">
            <a:solidFill>
              <a:srgbClr val="3FB95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560320" y="265176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FB9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Kubernetes v1.32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389120" y="2651760"/>
            <a:ext cx="1645920" cy="320040"/>
          </a:xfrm>
          <a:prstGeom prst="roundRect">
            <a:avLst>
              <a:gd name="adj" fmla="val 17143"/>
            </a:avLst>
          </a:prstGeom>
          <a:solidFill>
            <a:srgbClr val="161B22"/>
          </a:solidFill>
          <a:ln w="6350">
            <a:solidFill>
              <a:srgbClr val="D2992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389120" y="265176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299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Ubuntu 24.04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217920" y="2651760"/>
            <a:ext cx="1645920" cy="320040"/>
          </a:xfrm>
          <a:prstGeom prst="roundRect">
            <a:avLst>
              <a:gd name="adj" fmla="val 17143"/>
            </a:avLst>
          </a:prstGeom>
          <a:solidFill>
            <a:srgbClr val="161B22"/>
          </a:solidFill>
          <a:ln w="6350">
            <a:solidFill>
              <a:srgbClr val="F8514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17920" y="265176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851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ByteDance infra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31520" y="42062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84F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2026-06-06  |  Architecture Overview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00F7F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目录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5943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868680"/>
            <a:ext cx="8046720" cy="0"/>
          </a:xfrm>
          <a:prstGeom prst="line">
            <a:avLst/>
          </a:prstGeom>
          <a:noFill/>
          <a:ln w="12700">
            <a:solidFill>
              <a:srgbClr val="21262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097280"/>
            <a:ext cx="914400" cy="384048"/>
          </a:xfrm>
          <a:prstGeom prst="roundRect">
            <a:avLst>
              <a:gd name="adj" fmla="val 19048"/>
            </a:avLst>
          </a:prstGeom>
          <a:solidFill>
            <a:srgbClr val="161B22"/>
          </a:solidFill>
          <a:ln w="6350">
            <a:solidFill>
              <a:srgbClr val="21262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1097280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F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554480" y="1097280"/>
            <a:ext cx="7040880" cy="384048"/>
          </a:xfrm>
          <a:prstGeom prst="roundRect">
            <a:avLst>
              <a:gd name="adj" fmla="val 19048"/>
            </a:avLst>
          </a:prstGeom>
          <a:solidFill>
            <a:srgbClr val="161B22"/>
          </a:solidFill>
          <a:ln w="6350">
            <a:solidFill>
              <a:srgbClr val="21262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691640" y="1115568"/>
            <a:ext cx="6766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总体架构分层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691640" y="1298448"/>
            <a:ext cx="6766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用户层 → 接入层 → 推理层 → 调度层 → 执行层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48640" y="1572768"/>
            <a:ext cx="914400" cy="384048"/>
          </a:xfrm>
          <a:prstGeom prst="roundRect">
            <a:avLst>
              <a:gd name="adj" fmla="val 19048"/>
            </a:avLst>
          </a:prstGeom>
          <a:solidFill>
            <a:srgbClr val="161B22"/>
          </a:solidFill>
          <a:ln w="6350">
            <a:solidFill>
              <a:srgbClr val="21262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1572768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F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1554480" y="1572768"/>
            <a:ext cx="7040880" cy="384048"/>
          </a:xfrm>
          <a:prstGeom prst="roundRect">
            <a:avLst>
              <a:gd name="adj" fmla="val 19048"/>
            </a:avLst>
          </a:prstGeom>
          <a:solidFill>
            <a:srgbClr val="161B22"/>
          </a:solidFill>
          <a:ln w="6350">
            <a:solidFill>
              <a:srgbClr val="21262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691640" y="1591056"/>
            <a:ext cx="6766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完整数据流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691640" y="1773936"/>
            <a:ext cx="6766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从输入到响应的 7 步详解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48640" y="2048256"/>
            <a:ext cx="914400" cy="384048"/>
          </a:xfrm>
          <a:prstGeom prst="roundRect">
            <a:avLst>
              <a:gd name="adj" fmla="val 19048"/>
            </a:avLst>
          </a:prstGeom>
          <a:solidFill>
            <a:srgbClr val="161B22"/>
          </a:solidFill>
          <a:ln w="6350">
            <a:solidFill>
              <a:srgbClr val="21262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" y="2048256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F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1554480" y="2048256"/>
            <a:ext cx="7040880" cy="384048"/>
          </a:xfrm>
          <a:prstGeom prst="roundRect">
            <a:avLst>
              <a:gd name="adj" fmla="val 19048"/>
            </a:avLst>
          </a:prstGeom>
          <a:solidFill>
            <a:srgbClr val="161B22"/>
          </a:solidFill>
          <a:ln w="6350">
            <a:solidFill>
              <a:srgbClr val="21262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691640" y="2066544"/>
            <a:ext cx="6766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进程模型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691640" y="2249424"/>
            <a:ext cx="6766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沙盒内进程树与 Supervisor 管理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48640" y="2523744"/>
            <a:ext cx="914400" cy="384048"/>
          </a:xfrm>
          <a:prstGeom prst="roundRect">
            <a:avLst>
              <a:gd name="adj" fmla="val 19048"/>
            </a:avLst>
          </a:prstGeom>
          <a:solidFill>
            <a:srgbClr val="161B22"/>
          </a:solidFill>
          <a:ln w="6350">
            <a:solidFill>
              <a:srgbClr val="21262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8640" y="2523744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F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1554480" y="2523744"/>
            <a:ext cx="7040880" cy="384048"/>
          </a:xfrm>
          <a:prstGeom prst="roundRect">
            <a:avLst>
              <a:gd name="adj" fmla="val 19048"/>
            </a:avLst>
          </a:prstGeom>
          <a:solidFill>
            <a:srgbClr val="161B22"/>
          </a:solidFill>
          <a:ln w="6350">
            <a:solidFill>
              <a:srgbClr val="21262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691640" y="2542032"/>
            <a:ext cx="6766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网络架构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1691640" y="2724912"/>
            <a:ext cx="6766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网络拓扑、公网访问与限制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48640" y="2999232"/>
            <a:ext cx="914400" cy="384048"/>
          </a:xfrm>
          <a:prstGeom prst="roundRect">
            <a:avLst>
              <a:gd name="adj" fmla="val 19048"/>
            </a:avLst>
          </a:prstGeom>
          <a:solidFill>
            <a:srgbClr val="161B22"/>
          </a:solidFill>
          <a:ln w="6350">
            <a:solidFill>
              <a:srgbClr val="21262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48640" y="2999232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F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1554480" y="2999232"/>
            <a:ext cx="7040880" cy="384048"/>
          </a:xfrm>
          <a:prstGeom prst="roundRect">
            <a:avLst>
              <a:gd name="adj" fmla="val 19048"/>
            </a:avLst>
          </a:prstGeom>
          <a:solidFill>
            <a:srgbClr val="161B22"/>
          </a:solidFill>
          <a:ln w="6350">
            <a:solidFill>
              <a:srgbClr val="21262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691640" y="3017520"/>
            <a:ext cx="6766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存储架构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1691640" y="3200400"/>
            <a:ext cx="6766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磁盘布局、OverlayFS 与持久卷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548640" y="3474720"/>
            <a:ext cx="914400" cy="384048"/>
          </a:xfrm>
          <a:prstGeom prst="roundRect">
            <a:avLst>
              <a:gd name="adj" fmla="val 19048"/>
            </a:avLst>
          </a:prstGeom>
          <a:solidFill>
            <a:srgbClr val="161B22"/>
          </a:solidFill>
          <a:ln w="6350">
            <a:solidFill>
              <a:srgbClr val="21262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48640" y="3474720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F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1554480" y="3474720"/>
            <a:ext cx="7040880" cy="384048"/>
          </a:xfrm>
          <a:prstGeom prst="roundRect">
            <a:avLst>
              <a:gd name="adj" fmla="val 19048"/>
            </a:avLst>
          </a:prstGeom>
          <a:solidFill>
            <a:srgbClr val="161B22"/>
          </a:solidFill>
          <a:ln w="6350">
            <a:solidFill>
              <a:srgbClr val="21262D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691640" y="3493008"/>
            <a:ext cx="6766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安全与隔离模型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1691640" y="3675888"/>
            <a:ext cx="6766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层隔离机制与沙盒限制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48640" y="3950208"/>
            <a:ext cx="914400" cy="384048"/>
          </a:xfrm>
          <a:prstGeom prst="roundRect">
            <a:avLst>
              <a:gd name="adj" fmla="val 19048"/>
            </a:avLst>
          </a:prstGeom>
          <a:solidFill>
            <a:srgbClr val="161B22"/>
          </a:solidFill>
          <a:ln w="6350">
            <a:solidFill>
              <a:srgbClr val="21262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48640" y="3950208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F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1554480" y="3950208"/>
            <a:ext cx="7040880" cy="384048"/>
          </a:xfrm>
          <a:prstGeom prst="roundRect">
            <a:avLst>
              <a:gd name="adj" fmla="val 19048"/>
            </a:avLst>
          </a:prstGeom>
          <a:solidFill>
            <a:srgbClr val="161B22"/>
          </a:solidFill>
          <a:ln w="6350">
            <a:solidFill>
              <a:srgbClr val="21262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691640" y="3968496"/>
            <a:ext cx="6766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服务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1691640" y="4151376"/>
            <a:ext cx="6766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内置工具服务与通信方式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48640" y="4425696"/>
            <a:ext cx="914400" cy="384048"/>
          </a:xfrm>
          <a:prstGeom prst="roundRect">
            <a:avLst>
              <a:gd name="adj" fmla="val 19048"/>
            </a:avLst>
          </a:prstGeom>
          <a:solidFill>
            <a:srgbClr val="161B22"/>
          </a:solidFill>
          <a:ln w="6350">
            <a:solidFill>
              <a:srgbClr val="21262D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48640" y="4425696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F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1554480" y="4425696"/>
            <a:ext cx="7040880" cy="384048"/>
          </a:xfrm>
          <a:prstGeom prst="roundRect">
            <a:avLst>
              <a:gd name="adj" fmla="val 19048"/>
            </a:avLst>
          </a:prstGeom>
          <a:solidFill>
            <a:srgbClr val="161B22"/>
          </a:solidFill>
          <a:ln w="6350">
            <a:solidFill>
              <a:srgbClr val="21262D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691640" y="4443984"/>
            <a:ext cx="6766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预装工具链与规格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1691640" y="4626864"/>
            <a:ext cx="6766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开发工具版本与环境规格汇总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00F7F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总体架构分层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5943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FIVE-LAYER ARCHITECTURE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868680"/>
            <a:ext cx="8046720" cy="0"/>
          </a:xfrm>
          <a:prstGeom prst="line">
            <a:avLst/>
          </a:prstGeom>
          <a:noFill/>
          <a:ln w="12700">
            <a:solidFill>
              <a:srgbClr val="21262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170432"/>
            <a:ext cx="411480" cy="411480"/>
          </a:xfrm>
          <a:prstGeom prst="ellipse">
            <a:avLst/>
          </a:prstGeom>
          <a:solidFill>
            <a:srgbClr val="F85149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17043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097280" y="1097280"/>
            <a:ext cx="7498080" cy="594360"/>
          </a:xfrm>
          <a:prstGeom prst="roundRect">
            <a:avLst>
              <a:gd name="adj" fmla="val 12308"/>
            </a:avLst>
          </a:prstGeom>
          <a:solidFill>
            <a:srgbClr val="161B22"/>
          </a:solidFill>
          <a:ln w="6350">
            <a:solidFill>
              <a:srgbClr val="21262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34440" y="114300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851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用户层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234440" y="1389888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Layer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200400" y="1170432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你在 Trae IDE 中输入文字或语音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691640" y="1828800"/>
            <a:ext cx="0" cy="137160"/>
          </a:xfrm>
          <a:prstGeom prst="line">
            <a:avLst/>
          </a:prstGeom>
          <a:noFill/>
          <a:ln w="19050">
            <a:solidFill>
              <a:srgbClr val="21262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1947672"/>
            <a:ext cx="411480" cy="411480"/>
          </a:xfrm>
          <a:prstGeom prst="ellipse">
            <a:avLst/>
          </a:prstGeom>
          <a:solidFill>
            <a:srgbClr val="D29922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194767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1097280" y="1874520"/>
            <a:ext cx="7498080" cy="594360"/>
          </a:xfrm>
          <a:prstGeom prst="roundRect">
            <a:avLst>
              <a:gd name="adj" fmla="val 12308"/>
            </a:avLst>
          </a:prstGeom>
          <a:solidFill>
            <a:srgbClr val="161B22"/>
          </a:solidFill>
          <a:ln w="6350">
            <a:solidFill>
              <a:srgbClr val="21262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234440" y="19202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299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接入层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234440" y="2167128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Access Layer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200400" y="1947672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Trae 后端网关 · 负载均衡 · 认证 · WebSocket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1691640" y="2606040"/>
            <a:ext cx="0" cy="137160"/>
          </a:xfrm>
          <a:prstGeom prst="line">
            <a:avLst/>
          </a:prstGeom>
          <a:noFill/>
          <a:ln w="19050">
            <a:solidFill>
              <a:srgbClr val="21262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8640" y="2724912"/>
            <a:ext cx="411480" cy="411480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21" name="Text 19"/>
          <p:cNvSpPr/>
          <p:nvPr/>
        </p:nvSpPr>
        <p:spPr>
          <a:xfrm>
            <a:off x="548640" y="272491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1097280" y="2651760"/>
            <a:ext cx="7498080" cy="594360"/>
          </a:xfrm>
          <a:prstGeom prst="roundRect">
            <a:avLst>
              <a:gd name="adj" fmla="val 12308"/>
            </a:avLst>
          </a:prstGeom>
          <a:solidFill>
            <a:srgbClr val="161B22"/>
          </a:solidFill>
          <a:ln w="6350">
            <a:solidFill>
              <a:srgbClr val="21262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234440" y="26974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B9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推理层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1234440" y="2944368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Inference Layer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200400" y="2724912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推理 (DeepSeek) · 对话管理 · 工具调用调度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1691640" y="3383280"/>
            <a:ext cx="0" cy="137160"/>
          </a:xfrm>
          <a:prstGeom prst="line">
            <a:avLst/>
          </a:prstGeom>
          <a:noFill/>
          <a:ln w="19050">
            <a:solidFill>
              <a:srgbClr val="21262D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502152"/>
            <a:ext cx="411480" cy="411480"/>
          </a:xfrm>
          <a:prstGeom prst="ellipse">
            <a:avLst/>
          </a:prstGeom>
          <a:solidFill>
            <a:srgbClr val="58A6FF"/>
          </a:solidFill>
          <a:ln/>
        </p:spPr>
      </p:sp>
      <p:sp>
        <p:nvSpPr>
          <p:cNvPr id="28" name="Text 26"/>
          <p:cNvSpPr/>
          <p:nvPr/>
        </p:nvSpPr>
        <p:spPr>
          <a:xfrm>
            <a:off x="548640" y="350215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1097280" y="3429000"/>
            <a:ext cx="7498080" cy="594360"/>
          </a:xfrm>
          <a:prstGeom prst="roundRect">
            <a:avLst>
              <a:gd name="adj" fmla="val 12308"/>
            </a:avLst>
          </a:prstGeom>
          <a:solidFill>
            <a:srgbClr val="161B22"/>
          </a:solidFill>
          <a:ln w="6350">
            <a:solidFill>
              <a:srgbClr val="21262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234440" y="34747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8A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调度层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1234440" y="3721608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Orchestration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3200400" y="3502152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Kubernetes v1.32 · Pod 管理 · 网络策略 · 存储卷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691640" y="4160520"/>
            <a:ext cx="0" cy="137160"/>
          </a:xfrm>
          <a:prstGeom prst="line">
            <a:avLst/>
          </a:prstGeom>
          <a:noFill/>
          <a:ln w="19050">
            <a:solidFill>
              <a:srgbClr val="21262D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48640" y="4279392"/>
            <a:ext cx="411480" cy="411480"/>
          </a:xfrm>
          <a:prstGeom prst="ellipse">
            <a:avLst/>
          </a:prstGeom>
          <a:solidFill>
            <a:srgbClr val="00F7FF"/>
          </a:solidFill>
          <a:ln/>
        </p:spPr>
      </p:sp>
      <p:sp>
        <p:nvSpPr>
          <p:cNvPr id="35" name="Text 33"/>
          <p:cNvSpPr/>
          <p:nvPr/>
        </p:nvSpPr>
        <p:spPr>
          <a:xfrm>
            <a:off x="548640" y="427939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1097280" y="4206240"/>
            <a:ext cx="7498080" cy="594360"/>
          </a:xfrm>
          <a:prstGeom prst="roundRect">
            <a:avLst>
              <a:gd name="adj" fmla="val 12308"/>
            </a:avLst>
          </a:prstGeom>
          <a:solidFill>
            <a:srgbClr val="161B22"/>
          </a:solidFill>
          <a:ln w="6350">
            <a:solidFill>
              <a:srgbClr val="21262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234440" y="425196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F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执行层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1234440" y="4498848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Execution Layer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200400" y="4279392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Kata Container · Supervisor · Agent Tool Host · MCP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00F7F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完整数据流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5943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7-STEP DATA FLOW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868680"/>
            <a:ext cx="8046720" cy="0"/>
          </a:xfrm>
          <a:prstGeom prst="line">
            <a:avLst/>
          </a:prstGeom>
          <a:noFill/>
          <a:ln w="12700">
            <a:solidFill>
              <a:srgbClr val="21262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188720"/>
            <a:ext cx="1097280" cy="2103120"/>
          </a:xfrm>
          <a:prstGeom prst="roundRect">
            <a:avLst>
              <a:gd name="adj" fmla="val 6667"/>
            </a:avLst>
          </a:prstGeom>
          <a:solidFill>
            <a:srgbClr val="161B22"/>
          </a:solidFill>
          <a:ln w="6350">
            <a:solidFill>
              <a:srgbClr val="21262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77240" y="1325880"/>
            <a:ext cx="457200" cy="457200"/>
          </a:xfrm>
          <a:prstGeom prst="ellipse">
            <a:avLst/>
          </a:prstGeom>
          <a:solidFill>
            <a:srgbClr val="F85149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1325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02920" y="19202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用户输入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02920" y="2331720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文字 / 语音 / 文件上传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1691640" y="1188720"/>
            <a:ext cx="1097280" cy="2103120"/>
          </a:xfrm>
          <a:prstGeom prst="roundRect">
            <a:avLst>
              <a:gd name="adj" fmla="val 6667"/>
            </a:avLst>
          </a:prstGeom>
          <a:solidFill>
            <a:srgbClr val="161B22"/>
          </a:solidFill>
          <a:ln w="6350">
            <a:solidFill>
              <a:srgbClr val="21262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2240280"/>
            <a:ext cx="146304" cy="0"/>
          </a:xfrm>
          <a:prstGeom prst="line">
            <a:avLst/>
          </a:prstGeom>
          <a:noFill/>
          <a:ln w="12700">
            <a:solidFill>
              <a:srgbClr val="484F5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011680" y="1325880"/>
            <a:ext cx="457200" cy="457200"/>
          </a:xfrm>
          <a:prstGeom prst="ellipse">
            <a:avLst/>
          </a:prstGeom>
          <a:solidFill>
            <a:srgbClr val="D29922"/>
          </a:solidFill>
          <a:ln/>
        </p:spPr>
      </p:sp>
      <p:sp>
        <p:nvSpPr>
          <p:cNvPr id="14" name="Text 12"/>
          <p:cNvSpPr/>
          <p:nvPr/>
        </p:nvSpPr>
        <p:spPr>
          <a:xfrm>
            <a:off x="2011680" y="1325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737360" y="19202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传输到云端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737360" y="2331720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 / WebSocket → 后端网关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2926080" y="1188720"/>
            <a:ext cx="1097280" cy="2103120"/>
          </a:xfrm>
          <a:prstGeom prst="roundRect">
            <a:avLst>
              <a:gd name="adj" fmla="val 6667"/>
            </a:avLst>
          </a:prstGeom>
          <a:solidFill>
            <a:srgbClr val="161B22"/>
          </a:solidFill>
          <a:ln w="6350">
            <a:solidFill>
              <a:srgbClr val="21262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852928" y="2240280"/>
            <a:ext cx="146304" cy="0"/>
          </a:xfrm>
          <a:prstGeom prst="line">
            <a:avLst/>
          </a:prstGeom>
          <a:noFill/>
          <a:ln w="12700">
            <a:solidFill>
              <a:srgbClr val="484F5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46120" y="1325880"/>
            <a:ext cx="457200" cy="457200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20" name="Text 18"/>
          <p:cNvSpPr/>
          <p:nvPr/>
        </p:nvSpPr>
        <p:spPr>
          <a:xfrm>
            <a:off x="3246120" y="1325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2971800" y="19202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推理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971800" y="2331720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理解意图 → 决定是否调工具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160520" y="1188720"/>
            <a:ext cx="1097280" cy="2103120"/>
          </a:xfrm>
          <a:prstGeom prst="roundRect">
            <a:avLst>
              <a:gd name="adj" fmla="val 6667"/>
            </a:avLst>
          </a:prstGeom>
          <a:solidFill>
            <a:srgbClr val="161B22"/>
          </a:solidFill>
          <a:ln w="6350">
            <a:solidFill>
              <a:srgbClr val="21262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087368" y="2240280"/>
            <a:ext cx="146304" cy="0"/>
          </a:xfrm>
          <a:prstGeom prst="line">
            <a:avLst/>
          </a:prstGeom>
          <a:noFill/>
          <a:ln w="12700">
            <a:solidFill>
              <a:srgbClr val="484F5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480560" y="1325880"/>
            <a:ext cx="457200" cy="457200"/>
          </a:xfrm>
          <a:prstGeom prst="ellipse">
            <a:avLst/>
          </a:prstGeom>
          <a:solidFill>
            <a:srgbClr val="58A6FF"/>
          </a:solidFill>
          <a:ln/>
        </p:spPr>
      </p:sp>
      <p:sp>
        <p:nvSpPr>
          <p:cNvPr id="26" name="Text 24"/>
          <p:cNvSpPr/>
          <p:nvPr/>
        </p:nvSpPr>
        <p:spPr>
          <a:xfrm>
            <a:off x="4480560" y="1325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4206240" y="19202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工具调度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206240" y="2331720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K8s API → Pod 指令下发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5394960" y="1188720"/>
            <a:ext cx="1097280" cy="2103120"/>
          </a:xfrm>
          <a:prstGeom prst="roundRect">
            <a:avLst>
              <a:gd name="adj" fmla="val 6667"/>
            </a:avLst>
          </a:prstGeom>
          <a:solidFill>
            <a:srgbClr val="161B22"/>
          </a:solidFill>
          <a:ln w="6350">
            <a:solidFill>
              <a:srgbClr val="21262D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321808" y="2240280"/>
            <a:ext cx="146304" cy="0"/>
          </a:xfrm>
          <a:prstGeom prst="line">
            <a:avLst/>
          </a:prstGeom>
          <a:noFill/>
          <a:ln w="12700">
            <a:solidFill>
              <a:srgbClr val="484F5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715000" y="1325880"/>
            <a:ext cx="457200" cy="457200"/>
          </a:xfrm>
          <a:prstGeom prst="ellipse">
            <a:avLst/>
          </a:prstGeom>
          <a:solidFill>
            <a:srgbClr val="00F7FF"/>
          </a:solidFill>
          <a:ln/>
        </p:spPr>
      </p:sp>
      <p:sp>
        <p:nvSpPr>
          <p:cNvPr id="32" name="Text 30"/>
          <p:cNvSpPr/>
          <p:nvPr/>
        </p:nvSpPr>
        <p:spPr>
          <a:xfrm>
            <a:off x="5715000" y="1325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5440680" y="19202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沙盒执行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5440680" y="2331720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agent-tool-host 执行操作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629400" y="1188720"/>
            <a:ext cx="1097280" cy="2103120"/>
          </a:xfrm>
          <a:prstGeom prst="roundRect">
            <a:avLst>
              <a:gd name="adj" fmla="val 6667"/>
            </a:avLst>
          </a:prstGeom>
          <a:solidFill>
            <a:srgbClr val="161B22"/>
          </a:solidFill>
          <a:ln w="6350">
            <a:solidFill>
              <a:srgbClr val="21262D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556248" y="2240280"/>
            <a:ext cx="146304" cy="0"/>
          </a:xfrm>
          <a:prstGeom prst="line">
            <a:avLst/>
          </a:prstGeom>
          <a:noFill/>
          <a:ln w="12700">
            <a:solidFill>
              <a:srgbClr val="484F58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949440" y="1325880"/>
            <a:ext cx="457200" cy="457200"/>
          </a:xfrm>
          <a:prstGeom prst="ellipse">
            <a:avLst/>
          </a:prstGeom>
          <a:solidFill>
            <a:srgbClr val="F97583"/>
          </a:solidFill>
          <a:ln/>
        </p:spPr>
      </p:sp>
      <p:sp>
        <p:nvSpPr>
          <p:cNvPr id="38" name="Text 36"/>
          <p:cNvSpPr/>
          <p:nvPr/>
        </p:nvSpPr>
        <p:spPr>
          <a:xfrm>
            <a:off x="6949440" y="1325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6675120" y="19202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结果返回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6675120" y="2331720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stdout → K8s API → 推理服务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863840" y="1188720"/>
            <a:ext cx="1097280" cy="2103120"/>
          </a:xfrm>
          <a:prstGeom prst="roundRect">
            <a:avLst>
              <a:gd name="adj" fmla="val 6667"/>
            </a:avLst>
          </a:prstGeom>
          <a:solidFill>
            <a:srgbClr val="161B22"/>
          </a:solidFill>
          <a:ln w="6350">
            <a:solidFill>
              <a:srgbClr val="21262D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7790688" y="2240280"/>
            <a:ext cx="146304" cy="0"/>
          </a:xfrm>
          <a:prstGeom prst="line">
            <a:avLst/>
          </a:prstGeom>
          <a:noFill/>
          <a:ln w="12700">
            <a:solidFill>
              <a:srgbClr val="484F58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183880" y="1325880"/>
            <a:ext cx="457200" cy="457200"/>
          </a:xfrm>
          <a:prstGeom prst="ellipse">
            <a:avLst/>
          </a:prstGeom>
          <a:solidFill>
            <a:srgbClr val="BC8CFF"/>
          </a:solidFill>
          <a:ln/>
        </p:spPr>
      </p:sp>
      <p:sp>
        <p:nvSpPr>
          <p:cNvPr id="44" name="Text 42"/>
          <p:cNvSpPr/>
          <p:nvPr/>
        </p:nvSpPr>
        <p:spPr>
          <a:xfrm>
            <a:off x="8183880" y="1325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800" dirty="0"/>
          </a:p>
        </p:txBody>
      </p:sp>
      <p:sp>
        <p:nvSpPr>
          <p:cNvPr id="45" name="Text 43"/>
          <p:cNvSpPr/>
          <p:nvPr/>
        </p:nvSpPr>
        <p:spPr>
          <a:xfrm>
            <a:off x="7909560" y="19202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生成响应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7909560" y="2331720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整合 → SSE 推送 → IDE 渲染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57200" y="365760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0D1A29"/>
          </a:solidFill>
          <a:ln w="6350">
            <a:solidFill>
              <a:srgbClr val="21262D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40080" y="37490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00F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数据流向: </a:t>
            </a:r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你 → Trae IDE → 推理服务 → K8s API → Kata Container(agent-tool-host) → K8s API → 推理服务 → 你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00F7F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进程模型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5943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 HIERARCHY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868680"/>
            <a:ext cx="8046720" cy="0"/>
          </a:xfrm>
          <a:prstGeom prst="line">
            <a:avLst/>
          </a:prstGeom>
          <a:noFill/>
          <a:ln w="12700">
            <a:solidFill>
              <a:srgbClr val="21262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1261872"/>
            <a:ext cx="228600" cy="228600"/>
          </a:xfrm>
          <a:prstGeom prst="ellipse">
            <a:avLst/>
          </a:prstGeom>
          <a:solidFill>
            <a:srgbClr val="D29922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1188720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299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tini (PID 1)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51560" y="13716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init 进程，处理僵尸进程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325880" y="1655064"/>
            <a:ext cx="0" cy="182880"/>
          </a:xfrm>
          <a:prstGeom prst="line">
            <a:avLst/>
          </a:prstGeom>
          <a:noFill/>
          <a:ln w="12700">
            <a:solidFill>
              <a:srgbClr val="21262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463040" y="1764792"/>
            <a:ext cx="228600" cy="228600"/>
          </a:xfrm>
          <a:prstGeom prst="ellipse">
            <a:avLst/>
          </a:prstGeom>
          <a:solidFill>
            <a:srgbClr val="F85149"/>
          </a:solidFill>
          <a:ln/>
        </p:spPr>
      </p:sp>
      <p:sp>
        <p:nvSpPr>
          <p:cNvPr id="11" name="Text 9"/>
          <p:cNvSpPr/>
          <p:nvPr/>
        </p:nvSpPr>
        <p:spPr>
          <a:xfrm>
            <a:off x="1783080" y="1691640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51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supervisord (PID 825)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783080" y="18745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进程管理器，监控 agent-tool-host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2057400" y="2157984"/>
            <a:ext cx="0" cy="182880"/>
          </a:xfrm>
          <a:prstGeom prst="line">
            <a:avLst/>
          </a:prstGeom>
          <a:noFill/>
          <a:ln w="12700">
            <a:solidFill>
              <a:srgbClr val="21262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194560" y="2267712"/>
            <a:ext cx="228600" cy="228600"/>
          </a:xfrm>
          <a:prstGeom prst="ellipse">
            <a:avLst/>
          </a:prstGeom>
          <a:solidFill>
            <a:srgbClr val="00F7FF"/>
          </a:solidFill>
          <a:ln/>
        </p:spPr>
      </p:sp>
      <p:sp>
        <p:nvSpPr>
          <p:cNvPr id="15" name="Text 13"/>
          <p:cNvSpPr/>
          <p:nvPr/>
        </p:nvSpPr>
        <p:spPr>
          <a:xfrm>
            <a:off x="2514600" y="2194560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F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agent-tool-host (PID 826)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514600" y="237744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工具执行代理，接收推理服务指令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2788920" y="2660904"/>
            <a:ext cx="0" cy="182880"/>
          </a:xfrm>
          <a:prstGeom prst="line">
            <a:avLst/>
          </a:prstGeom>
          <a:noFill/>
          <a:ln w="12700">
            <a:solidFill>
              <a:srgbClr val="21262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926080" y="2770632"/>
            <a:ext cx="228600" cy="228600"/>
          </a:xfrm>
          <a:prstGeom prst="ellipse">
            <a:avLst/>
          </a:prstGeom>
          <a:solidFill>
            <a:srgbClr val="8B949E"/>
          </a:solidFill>
          <a:ln/>
        </p:spPr>
      </p:sp>
      <p:sp>
        <p:nvSpPr>
          <p:cNvPr id="19" name="Text 17"/>
          <p:cNvSpPr/>
          <p:nvPr/>
        </p:nvSpPr>
        <p:spPr>
          <a:xfrm>
            <a:off x="3246120" y="2697480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bash (子进程)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3246120" y="288036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用户命令执行 (RunCommand)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2788920" y="3163824"/>
            <a:ext cx="0" cy="182880"/>
          </a:xfrm>
          <a:prstGeom prst="line">
            <a:avLst/>
          </a:prstGeom>
          <a:noFill/>
          <a:ln w="12700">
            <a:solidFill>
              <a:srgbClr val="21262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26080" y="3273552"/>
            <a:ext cx="228600" cy="228600"/>
          </a:xfrm>
          <a:prstGeom prst="ellipse">
            <a:avLst/>
          </a:prstGeom>
          <a:solidFill>
            <a:srgbClr val="8B949E"/>
          </a:solidFill>
          <a:ln/>
        </p:spPr>
      </p:sp>
      <p:sp>
        <p:nvSpPr>
          <p:cNvPr id="23" name="Text 21"/>
          <p:cNvSpPr/>
          <p:nvPr/>
        </p:nvSpPr>
        <p:spPr>
          <a:xfrm>
            <a:off x="3246120" y="3200400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Browser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246120" y="338328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浏览器自动化服务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2788920" y="3666744"/>
            <a:ext cx="0" cy="182880"/>
          </a:xfrm>
          <a:prstGeom prst="line">
            <a:avLst/>
          </a:prstGeom>
          <a:noFill/>
          <a:ln w="12700">
            <a:solidFill>
              <a:srgbClr val="21262D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26080" y="3776472"/>
            <a:ext cx="228600" cy="228600"/>
          </a:xfrm>
          <a:prstGeom prst="ellipse">
            <a:avLst/>
          </a:prstGeom>
          <a:solidFill>
            <a:srgbClr val="8B949E"/>
          </a:solidFill>
          <a:ln/>
        </p:spPr>
      </p:sp>
      <p:sp>
        <p:nvSpPr>
          <p:cNvPr id="27" name="Text 25"/>
          <p:cNvSpPr/>
          <p:nvPr/>
        </p:nvSpPr>
        <p:spPr>
          <a:xfrm>
            <a:off x="3246120" y="3703320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PDF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3246120" y="3886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PDF 表单填充/校验/提取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2788920" y="4169664"/>
            <a:ext cx="0" cy="182880"/>
          </a:xfrm>
          <a:prstGeom prst="line">
            <a:avLst/>
          </a:prstGeom>
          <a:noFill/>
          <a:ln w="12700">
            <a:solidFill>
              <a:srgbClr val="21262D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926080" y="4279392"/>
            <a:ext cx="228600" cy="228600"/>
          </a:xfrm>
          <a:prstGeom prst="ellipse">
            <a:avLst/>
          </a:prstGeom>
          <a:solidFill>
            <a:srgbClr val="8B949E"/>
          </a:solidFill>
          <a:ln/>
        </p:spPr>
      </p:sp>
      <p:sp>
        <p:nvSpPr>
          <p:cNvPr id="31" name="Text 29"/>
          <p:cNvSpPr/>
          <p:nvPr/>
        </p:nvSpPr>
        <p:spPr>
          <a:xfrm>
            <a:off x="3246120" y="4206240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Office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3246120" y="43891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DOCX/PPTX/XLSX 文档处理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029200" y="1188720"/>
            <a:ext cx="3474720" cy="3291840"/>
          </a:xfrm>
          <a:prstGeom prst="roundRect">
            <a:avLst>
              <a:gd name="adj" fmla="val 2222"/>
            </a:avLst>
          </a:prstGeom>
          <a:solidFill>
            <a:srgbClr val="161B22"/>
          </a:solidFill>
          <a:ln w="6350">
            <a:solidFill>
              <a:srgbClr val="21262D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212080" y="12801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8A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Supervisor 配置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212080" y="1645920"/>
            <a:ext cx="31089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9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autostart=true
</a:t>
            </a:r>
            <a:endParaRPr lang="en-US" sz="9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9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autorestart=true
</a:t>
            </a:r>
            <a:endParaRPr lang="en-US" sz="9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9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startretries=3
</a:t>
            </a:r>
            <a:endParaRPr lang="en-US" sz="9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9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startsecs=2
</a:t>
            </a:r>
            <a:endParaRPr lang="en-US" sz="9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9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stdout: /var/log/tool/
</a:t>
            </a:r>
            <a:endParaRPr lang="en-US" sz="9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9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stderr: /var/log/tool/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00F7F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网络架构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5943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NETWORK TOPOLOGY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868680"/>
            <a:ext cx="8046720" cy="0"/>
          </a:xfrm>
          <a:prstGeom prst="line">
            <a:avLst/>
          </a:prstGeom>
          <a:noFill/>
          <a:ln w="12700">
            <a:solidFill>
              <a:srgbClr val="21262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834640" y="1371600"/>
            <a:ext cx="548640" cy="0"/>
          </a:xfrm>
          <a:prstGeom prst="line">
            <a:avLst/>
          </a:prstGeom>
          <a:noFill/>
          <a:ln w="12700">
            <a:solidFill>
              <a:srgbClr val="484F5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0" y="1371600"/>
            <a:ext cx="548640" cy="0"/>
          </a:xfrm>
          <a:prstGeom prst="line">
            <a:avLst/>
          </a:prstGeom>
          <a:noFill/>
          <a:ln w="12700">
            <a:solidFill>
              <a:srgbClr val="484F5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691640" y="1645920"/>
            <a:ext cx="0" cy="548640"/>
          </a:xfrm>
          <a:prstGeom prst="line">
            <a:avLst/>
          </a:prstGeom>
          <a:noFill/>
          <a:ln w="12700">
            <a:solidFill>
              <a:srgbClr val="484F58"/>
            </a:solidFill>
            <a:prstDash val="dash"/>
          </a:ln>
        </p:spPr>
      </p:sp>
      <p:sp>
        <p:nvSpPr>
          <p:cNvPr id="9" name="Shape 7"/>
          <p:cNvSpPr/>
          <p:nvPr/>
        </p:nvSpPr>
        <p:spPr>
          <a:xfrm>
            <a:off x="7360920" y="1645920"/>
            <a:ext cx="0" cy="548640"/>
          </a:xfrm>
          <a:prstGeom prst="line">
            <a:avLst/>
          </a:prstGeom>
          <a:noFill/>
          <a:ln w="12700">
            <a:solidFill>
              <a:srgbClr val="484F5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60920" y="2194560"/>
            <a:ext cx="-2560320" cy="0"/>
          </a:xfrm>
          <a:prstGeom prst="line">
            <a:avLst/>
          </a:prstGeom>
          <a:noFill/>
          <a:ln w="12700">
            <a:solidFill>
              <a:srgbClr val="484F5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800600" y="2194560"/>
            <a:ext cx="0" cy="1005840"/>
          </a:xfrm>
          <a:prstGeom prst="line">
            <a:avLst/>
          </a:prstGeom>
          <a:noFill/>
          <a:ln w="12700">
            <a:solidFill>
              <a:srgbClr val="484F5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1097280"/>
            <a:ext cx="2286000" cy="548640"/>
          </a:xfrm>
          <a:prstGeom prst="roundRect">
            <a:avLst>
              <a:gd name="adj" fmla="val 13333"/>
            </a:avLst>
          </a:prstGeom>
          <a:solidFill>
            <a:srgbClr val="161B22"/>
          </a:solidFill>
          <a:ln w="6350">
            <a:solidFill>
              <a:srgbClr val="21262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1097280"/>
            <a:ext cx="54864" cy="548640"/>
          </a:xfrm>
          <a:prstGeom prst="rect">
            <a:avLst/>
          </a:prstGeom>
          <a:solidFill>
            <a:srgbClr val="F85149"/>
          </a:solidFill>
          <a:ln/>
        </p:spPr>
      </p:sp>
      <p:sp>
        <p:nvSpPr>
          <p:cNvPr id="14" name="Text 12"/>
          <p:cNvSpPr/>
          <p:nvPr/>
        </p:nvSpPr>
        <p:spPr>
          <a:xfrm>
            <a:off x="685800" y="1170432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51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用户设备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85800" y="148132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手机 / 电脑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383280" y="1097280"/>
            <a:ext cx="2286000" cy="548640"/>
          </a:xfrm>
          <a:prstGeom prst="roundRect">
            <a:avLst>
              <a:gd name="adj" fmla="val 13333"/>
            </a:avLst>
          </a:prstGeom>
          <a:solidFill>
            <a:srgbClr val="161B22"/>
          </a:solidFill>
          <a:ln w="6350">
            <a:solidFill>
              <a:srgbClr val="21262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383280" y="1097280"/>
            <a:ext cx="54864" cy="548640"/>
          </a:xfrm>
          <a:prstGeom prst="rect">
            <a:avLst/>
          </a:prstGeom>
          <a:solidFill>
            <a:srgbClr val="D29922"/>
          </a:solidFill>
          <a:ln/>
        </p:spPr>
      </p:sp>
      <p:sp>
        <p:nvSpPr>
          <p:cNvPr id="18" name="Text 16"/>
          <p:cNvSpPr/>
          <p:nvPr/>
        </p:nvSpPr>
        <p:spPr>
          <a:xfrm>
            <a:off x="3520440" y="1170432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299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Trae 后端网关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520440" y="148132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公网可达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6217920" y="1097280"/>
            <a:ext cx="2286000" cy="548640"/>
          </a:xfrm>
          <a:prstGeom prst="roundRect">
            <a:avLst>
              <a:gd name="adj" fmla="val 13333"/>
            </a:avLst>
          </a:prstGeom>
          <a:solidFill>
            <a:srgbClr val="161B22"/>
          </a:solidFill>
          <a:ln w="6350">
            <a:solidFill>
              <a:srgbClr val="21262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217920" y="1097280"/>
            <a:ext cx="54864" cy="548640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22" name="Text 20"/>
          <p:cNvSpPr/>
          <p:nvPr/>
        </p:nvSpPr>
        <p:spPr>
          <a:xfrm>
            <a:off x="6355080" y="1170432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B9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推理服务集群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355080" y="148132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私有网络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548640" y="3200400"/>
            <a:ext cx="2743200" cy="731520"/>
          </a:xfrm>
          <a:prstGeom prst="roundRect">
            <a:avLst>
              <a:gd name="adj" fmla="val 10000"/>
            </a:avLst>
          </a:prstGeom>
          <a:solidFill>
            <a:srgbClr val="161B22"/>
          </a:solidFill>
          <a:ln w="6350">
            <a:solidFill>
              <a:srgbClr val="21262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48640" y="3200400"/>
            <a:ext cx="54864" cy="731520"/>
          </a:xfrm>
          <a:prstGeom prst="rect">
            <a:avLst/>
          </a:prstGeom>
          <a:solidFill>
            <a:srgbClr val="00F7FF"/>
          </a:solidFill>
          <a:ln/>
        </p:spPr>
      </p:sp>
      <p:sp>
        <p:nvSpPr>
          <p:cNvPr id="26" name="Text 24"/>
          <p:cNvSpPr/>
          <p:nvPr/>
        </p:nvSpPr>
        <p:spPr>
          <a:xfrm>
            <a:off x="685800" y="3273552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F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Kata Container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85800" y="358444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10.54.11.105/12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3840480" y="3200400"/>
            <a:ext cx="2011680" cy="731520"/>
          </a:xfrm>
          <a:prstGeom prst="roundRect">
            <a:avLst>
              <a:gd name="adj" fmla="val 10000"/>
            </a:avLst>
          </a:prstGeom>
          <a:solidFill>
            <a:srgbClr val="161B22"/>
          </a:solidFill>
          <a:ln w="6350">
            <a:solidFill>
              <a:srgbClr val="21262D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840480" y="3200400"/>
            <a:ext cx="54864" cy="731520"/>
          </a:xfrm>
          <a:prstGeom prst="rect">
            <a:avLst/>
          </a:prstGeom>
          <a:solidFill>
            <a:srgbClr val="58A6FF"/>
          </a:solidFill>
          <a:ln/>
        </p:spPr>
      </p:sp>
      <p:sp>
        <p:nvSpPr>
          <p:cNvPr id="30" name="Text 28"/>
          <p:cNvSpPr/>
          <p:nvPr/>
        </p:nvSpPr>
        <p:spPr>
          <a:xfrm>
            <a:off x="3977640" y="327355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8A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 Proxy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3977640" y="358444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127.0.0.1:18080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6400800" y="3200400"/>
            <a:ext cx="2011680" cy="731520"/>
          </a:xfrm>
          <a:prstGeom prst="roundRect">
            <a:avLst>
              <a:gd name="adj" fmla="val 10000"/>
            </a:avLst>
          </a:prstGeom>
          <a:solidFill>
            <a:srgbClr val="161B22"/>
          </a:solidFill>
          <a:ln w="6350">
            <a:solidFill>
              <a:srgbClr val="21262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537960" y="327355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K8s DNS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6537960" y="358444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172.30.1.10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548640" y="4206240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161B22"/>
          </a:solidFill>
          <a:ln w="6350">
            <a:solidFill>
              <a:srgbClr val="21262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31520" y="425196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出站: GitHub ✅  |  通用外网 ✅ (NAT)  |  Google ❌  |  入站从公网: ❌ 不可达  |  出口 IP 不固定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00F7F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存储架构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5943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STORAGE LAYOUT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868680"/>
            <a:ext cx="8046720" cy="0"/>
          </a:xfrm>
          <a:prstGeom prst="line">
            <a:avLst/>
          </a:prstGeom>
          <a:noFill/>
          <a:ln w="12700">
            <a:solidFill>
              <a:srgbClr val="21262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188720"/>
            <a:ext cx="8046720" cy="320040"/>
          </a:xfrm>
          <a:prstGeom prst="roundRect">
            <a:avLst>
              <a:gd name="adj" fmla="val 11429"/>
            </a:avLst>
          </a:prstGeom>
          <a:solidFill>
            <a:srgbClr val="161B22"/>
          </a:solidFill>
          <a:ln w="6350">
            <a:solidFill>
              <a:srgbClr val="58A6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188720"/>
            <a:ext cx="54864" cy="320040"/>
          </a:xfrm>
          <a:prstGeom prst="rect">
            <a:avLst/>
          </a:prstGeom>
          <a:solidFill>
            <a:srgbClr val="58A6FF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1887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8A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/dev/vda (40 GB)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822960" y="1554480"/>
            <a:ext cx="7772400" cy="292608"/>
          </a:xfrm>
          <a:prstGeom prst="roundRect">
            <a:avLst>
              <a:gd name="adj" fmla="val 25000"/>
            </a:avLst>
          </a:prstGeom>
          <a:solidFill>
            <a:srgbClr val="161B22"/>
          </a:solidFill>
          <a:ln w="6350">
            <a:solidFill>
              <a:srgbClr val="21262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554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/workspace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291840" y="15544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用户工作区 (ext4, 持久化)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949440" y="155448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84F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32G/40G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822960" y="1892808"/>
            <a:ext cx="7772400" cy="292608"/>
          </a:xfrm>
          <a:prstGeom prst="roundRect">
            <a:avLst>
              <a:gd name="adj" fmla="val 25000"/>
            </a:avLst>
          </a:prstGeom>
          <a:solidFill>
            <a:srgbClr val="161B22"/>
          </a:solidFill>
          <a:ln w="6350">
            <a:solidFill>
              <a:srgbClr val="21262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189280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/data/user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291840" y="189280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技能定义和脚本 (ext4, 持久化)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822960" y="2231136"/>
            <a:ext cx="7772400" cy="292608"/>
          </a:xfrm>
          <a:prstGeom prst="roundRect">
            <a:avLst>
              <a:gd name="adj" fmla="val 25000"/>
            </a:avLst>
          </a:prstGeom>
          <a:solidFill>
            <a:srgbClr val="161B22"/>
          </a:solidFill>
          <a:ln w="6350">
            <a:solidFill>
              <a:srgbClr val="21262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05840" y="223113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/data/tool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291840" y="223113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工具缓存 (ext4, 持久化)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822960" y="2569464"/>
            <a:ext cx="7772400" cy="292608"/>
          </a:xfrm>
          <a:prstGeom prst="roundRect">
            <a:avLst>
              <a:gd name="adj" fmla="val 25000"/>
            </a:avLst>
          </a:prstGeom>
          <a:solidFill>
            <a:srgbClr val="161B22"/>
          </a:solidFill>
          <a:ln w="6350">
            <a:solidFill>
              <a:srgbClr val="21262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05840" y="2569464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/var/log/tool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3291840" y="256946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运行日志 (ext4, 持久化)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48640" y="3017520"/>
            <a:ext cx="8046720" cy="320040"/>
          </a:xfrm>
          <a:prstGeom prst="roundRect">
            <a:avLst>
              <a:gd name="adj" fmla="val 11429"/>
            </a:avLst>
          </a:prstGeom>
          <a:solidFill>
            <a:srgbClr val="161B22"/>
          </a:solidFill>
          <a:ln w="6350">
            <a:solidFill>
              <a:srgbClr val="F8514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3017520"/>
            <a:ext cx="54864" cy="320040"/>
          </a:xfrm>
          <a:prstGeom prst="rect">
            <a:avLst/>
          </a:prstGeom>
          <a:solidFill>
            <a:srgbClr val="F85149"/>
          </a:solidFill>
          <a:ln/>
        </p:spPr>
      </p:sp>
      <p:sp>
        <p:nvSpPr>
          <p:cNvPr id="24" name="Text 22"/>
          <p:cNvSpPr/>
          <p:nvPr/>
        </p:nvSpPr>
        <p:spPr>
          <a:xfrm>
            <a:off x="731520" y="30175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851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OverlayFS (40 GB, 临时)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822960" y="3383280"/>
            <a:ext cx="7772400" cy="292608"/>
          </a:xfrm>
          <a:prstGeom prst="roundRect">
            <a:avLst>
              <a:gd name="adj" fmla="val 25000"/>
            </a:avLst>
          </a:prstGeom>
          <a:solidFill>
            <a:srgbClr val="161B22"/>
          </a:solidFill>
          <a:ln w="6350">
            <a:solidFill>
              <a:srgbClr val="21262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05840" y="33832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 (根文件系统)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3291840" y="33832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 层只读镜像层 + 可写层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949440" y="338328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84F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容器销毁后丢失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822960" y="3721608"/>
            <a:ext cx="7772400" cy="292608"/>
          </a:xfrm>
          <a:prstGeom prst="roundRect">
            <a:avLst>
              <a:gd name="adj" fmla="val 25000"/>
            </a:avLst>
          </a:prstGeom>
          <a:solidFill>
            <a:srgbClr val="161B22"/>
          </a:solidFill>
          <a:ln w="6350">
            <a:solidFill>
              <a:srgbClr val="21262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005840" y="372160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/app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3291840" y="372160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应用二进制和配置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822960" y="4059936"/>
            <a:ext cx="7772400" cy="292608"/>
          </a:xfrm>
          <a:prstGeom prst="roundRect">
            <a:avLst>
              <a:gd name="adj" fmla="val 25000"/>
            </a:avLst>
          </a:prstGeom>
          <a:solidFill>
            <a:srgbClr val="161B22"/>
          </a:solidFill>
          <a:ln w="6350">
            <a:solidFill>
              <a:srgbClr val="21262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005840" y="405993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/root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3291840" y="405993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预装开发环境 (nvm/pyenv等)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548640" y="4507992"/>
            <a:ext cx="8046720" cy="320040"/>
          </a:xfrm>
          <a:prstGeom prst="roundRect">
            <a:avLst>
              <a:gd name="adj" fmla="val 11429"/>
            </a:avLst>
          </a:prstGeom>
          <a:solidFill>
            <a:srgbClr val="161B22"/>
          </a:solidFill>
          <a:ln w="6350">
            <a:solidFill>
              <a:srgbClr val="D2992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48640" y="4507992"/>
            <a:ext cx="54864" cy="320040"/>
          </a:xfrm>
          <a:prstGeom prst="rect">
            <a:avLst/>
          </a:prstGeom>
          <a:solidFill>
            <a:srgbClr val="D29922"/>
          </a:solidFill>
          <a:ln/>
        </p:spPr>
      </p:sp>
      <p:sp>
        <p:nvSpPr>
          <p:cNvPr id="37" name="Text 35"/>
          <p:cNvSpPr/>
          <p:nvPr/>
        </p:nvSpPr>
        <p:spPr>
          <a:xfrm>
            <a:off x="731520" y="4507992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299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/dev/pmem0 (1.4 GB)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822960" y="4873752"/>
            <a:ext cx="7772400" cy="292608"/>
          </a:xfrm>
          <a:prstGeom prst="roundRect">
            <a:avLst>
              <a:gd name="adj" fmla="val 25000"/>
            </a:avLst>
          </a:prstGeom>
          <a:solidFill>
            <a:srgbClr val="161B22"/>
          </a:solidFill>
          <a:ln w="6350">
            <a:solidFill>
              <a:srgbClr val="21262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005840" y="4873752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持久内存设备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3291840" y="48737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Kata Container 根文件系统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00F7F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安全与隔离模型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5943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&amp; ISOLATION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868680"/>
            <a:ext cx="8046720" cy="0"/>
          </a:xfrm>
          <a:prstGeom prst="line">
            <a:avLst/>
          </a:prstGeom>
          <a:noFill/>
          <a:ln w="12700">
            <a:solidFill>
              <a:srgbClr val="21262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057400" y="1188720"/>
            <a:ext cx="5943600" cy="548640"/>
          </a:xfrm>
          <a:prstGeom prst="roundRect">
            <a:avLst>
              <a:gd name="adj" fmla="val 10000"/>
            </a:avLst>
          </a:prstGeom>
          <a:solidFill>
            <a:srgbClr val="161B22"/>
          </a:solidFill>
          <a:ln w="6350">
            <a:solidFill>
              <a:srgbClr val="58A6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148840" y="1207008"/>
            <a:ext cx="5760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8A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 Kata VM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2148840" y="1444752"/>
            <a:ext cx="5760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硬件虚拟化，独立内核  →  防止容器逃逸到宿主机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377440" y="1874520"/>
            <a:ext cx="5303520" cy="548640"/>
          </a:xfrm>
          <a:prstGeom prst="roundRect">
            <a:avLst>
              <a:gd name="adj" fmla="val 10000"/>
            </a:avLst>
          </a:prstGeom>
          <a:solidFill>
            <a:srgbClr val="161B22"/>
          </a:solidFill>
          <a:ln w="6350">
            <a:solidFill>
              <a:srgbClr val="58A6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468880" y="1892808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8A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 K8s NetworkPolicy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468880" y="2130552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网络 ACL  →  限制 Pod 间通信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697480" y="2560320"/>
            <a:ext cx="4663440" cy="548640"/>
          </a:xfrm>
          <a:prstGeom prst="roundRect">
            <a:avLst>
              <a:gd name="adj" fmla="val 10000"/>
            </a:avLst>
          </a:prstGeom>
          <a:solidFill>
            <a:srgbClr val="161B22"/>
          </a:solidFill>
          <a:ln w="6350">
            <a:solidFill>
              <a:srgbClr val="58A6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788920" y="257860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8A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 容器用户隔离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788920" y="2816352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以 root 运行但受限  →  沙盒内操作隔离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017520" y="3246120"/>
            <a:ext cx="4023360" cy="548640"/>
          </a:xfrm>
          <a:prstGeom prst="roundRect">
            <a:avLst>
              <a:gd name="adj" fmla="val 10000"/>
            </a:avLst>
          </a:prstGeom>
          <a:solidFill>
            <a:srgbClr val="161B22"/>
          </a:solidFill>
          <a:ln w="6350">
            <a:solidFill>
              <a:srgbClr val="58A6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108960" y="3264408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8A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 工具调用沙盒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108960" y="350215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agent-tool-host 控制执行  →  限制工具调用范围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337560" y="3931920"/>
            <a:ext cx="3383280" cy="548640"/>
          </a:xfrm>
          <a:prstGeom prst="roundRect">
            <a:avLst>
              <a:gd name="adj" fmla="val 10000"/>
            </a:avLst>
          </a:prstGeom>
          <a:solidFill>
            <a:srgbClr val="161B22"/>
          </a:solidFill>
          <a:ln w="6350">
            <a:solidFill>
              <a:srgbClr val="58A6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429000" y="395020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8A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 上下文隔离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3429000" y="4187952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每个 Session 独立  →  不同对话不互相干扰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48640" y="3931920"/>
            <a:ext cx="8046720" cy="822960"/>
          </a:xfrm>
          <a:prstGeom prst="roundRect">
            <a:avLst>
              <a:gd name="adj" fmla="val 8889"/>
            </a:avLst>
          </a:prstGeom>
          <a:solidFill>
            <a:srgbClr val="161B22"/>
          </a:solidFill>
          <a:ln w="6350">
            <a:solidFill>
              <a:srgbClr val="21262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31520" y="39776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851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沙盒限制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31520" y="4251960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无 GPU  |  无 /dev/dri  |  无法加载内核模块  |  K8s API 仅代理访问  |  无 ServiceAccount  |  公网入站不可达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00F7F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会话生命周期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5943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SESSION LIFECYCLE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868680"/>
            <a:ext cx="8046720" cy="0"/>
          </a:xfrm>
          <a:prstGeom prst="line">
            <a:avLst/>
          </a:prstGeom>
          <a:noFill/>
          <a:ln w="12700">
            <a:solidFill>
              <a:srgbClr val="21262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261872"/>
            <a:ext cx="411480" cy="411480"/>
          </a:xfrm>
          <a:prstGeom prst="ellipse">
            <a:avLst/>
          </a:prstGeom>
          <a:solidFill>
            <a:srgbClr val="00F7FF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26187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188720" y="1188720"/>
            <a:ext cx="7406640" cy="475488"/>
          </a:xfrm>
          <a:prstGeom prst="roundRect">
            <a:avLst>
              <a:gd name="adj" fmla="val 15385"/>
            </a:avLst>
          </a:prstGeom>
          <a:solidFill>
            <a:srgbClr val="161B22"/>
          </a:solidFill>
          <a:ln w="6350">
            <a:solidFill>
              <a:srgbClr val="21262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371600" y="121615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打开 IDE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371600" y="1435608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触发会话创建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754380" y="1783080"/>
            <a:ext cx="0" cy="137160"/>
          </a:xfrm>
          <a:prstGeom prst="line">
            <a:avLst/>
          </a:prstGeom>
          <a:noFill/>
          <a:ln w="19050">
            <a:solidFill>
              <a:srgbClr val="00F7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1901952"/>
            <a:ext cx="411480" cy="411480"/>
          </a:xfrm>
          <a:prstGeom prst="ellipse">
            <a:avLst/>
          </a:prstGeom>
          <a:solidFill>
            <a:srgbClr val="00F7FF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190195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1188720" y="1828800"/>
            <a:ext cx="7406640" cy="475488"/>
          </a:xfrm>
          <a:prstGeom prst="roundRect">
            <a:avLst>
              <a:gd name="adj" fmla="val 15385"/>
            </a:avLst>
          </a:prstGeom>
          <a:solidFill>
            <a:srgbClr val="161B22"/>
          </a:solidFill>
          <a:ln w="6350">
            <a:solidFill>
              <a:srgbClr val="21262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371600" y="185623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K8s 创建 Pod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371600" y="2075688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拉取镜像 → 挂载卷 → 分配网络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54380" y="2423160"/>
            <a:ext cx="0" cy="137160"/>
          </a:xfrm>
          <a:prstGeom prst="line">
            <a:avLst/>
          </a:prstGeom>
          <a:noFill/>
          <a:ln w="19050">
            <a:solidFill>
              <a:srgbClr val="00F7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2542032"/>
            <a:ext cx="411480" cy="411480"/>
          </a:xfrm>
          <a:prstGeom prst="ellipse">
            <a:avLst/>
          </a:prstGeom>
          <a:solidFill>
            <a:srgbClr val="00F7FF"/>
          </a:solidFill>
          <a:ln/>
        </p:spPr>
      </p:sp>
      <p:sp>
        <p:nvSpPr>
          <p:cNvPr id="19" name="Text 17"/>
          <p:cNvSpPr/>
          <p:nvPr/>
        </p:nvSpPr>
        <p:spPr>
          <a:xfrm>
            <a:off x="548640" y="254203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1188720" y="2468880"/>
            <a:ext cx="7406640" cy="475488"/>
          </a:xfrm>
          <a:prstGeom prst="roundRect">
            <a:avLst>
              <a:gd name="adj" fmla="val 15385"/>
            </a:avLst>
          </a:prstGeom>
          <a:solidFill>
            <a:srgbClr val="161B22"/>
          </a:solidFill>
          <a:ln w="6350">
            <a:solidFill>
              <a:srgbClr val="21262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371600" y="249631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启动进程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371600" y="2715768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tini → supervisord → agent-tool-host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54380" y="3063240"/>
            <a:ext cx="0" cy="137160"/>
          </a:xfrm>
          <a:prstGeom prst="line">
            <a:avLst/>
          </a:prstGeom>
          <a:noFill/>
          <a:ln w="19050">
            <a:solidFill>
              <a:srgbClr val="00F7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48640" y="3182112"/>
            <a:ext cx="411480" cy="411480"/>
          </a:xfrm>
          <a:prstGeom prst="ellipse">
            <a:avLst/>
          </a:prstGeom>
          <a:solidFill>
            <a:srgbClr val="00F7FF"/>
          </a:solidFill>
          <a:ln/>
        </p:spPr>
      </p:sp>
      <p:sp>
        <p:nvSpPr>
          <p:cNvPr id="25" name="Text 23"/>
          <p:cNvSpPr/>
          <p:nvPr/>
        </p:nvSpPr>
        <p:spPr>
          <a:xfrm>
            <a:off x="548640" y="318211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1188720" y="3108960"/>
            <a:ext cx="7406640" cy="475488"/>
          </a:xfrm>
          <a:prstGeom prst="roundRect">
            <a:avLst>
              <a:gd name="adj" fmla="val 15385"/>
            </a:avLst>
          </a:prstGeom>
          <a:solidFill>
            <a:srgbClr val="161B22"/>
          </a:solidFill>
          <a:ln w="6350">
            <a:solidFill>
              <a:srgbClr val="21262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371600" y="31363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对话进行中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371600" y="3355848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↔ 沙盒 持续通信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54380" y="3703320"/>
            <a:ext cx="0" cy="137160"/>
          </a:xfrm>
          <a:prstGeom prst="line">
            <a:avLst/>
          </a:prstGeom>
          <a:noFill/>
          <a:ln w="19050">
            <a:solidFill>
              <a:srgbClr val="00F7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48640" y="3822192"/>
            <a:ext cx="411480" cy="411480"/>
          </a:xfrm>
          <a:prstGeom prst="ellipse">
            <a:avLst/>
          </a:prstGeom>
          <a:solidFill>
            <a:srgbClr val="F85149"/>
          </a:solidFill>
          <a:ln/>
        </p:spPr>
      </p:sp>
      <p:sp>
        <p:nvSpPr>
          <p:cNvPr id="31" name="Text 29"/>
          <p:cNvSpPr/>
          <p:nvPr/>
        </p:nvSpPr>
        <p:spPr>
          <a:xfrm>
            <a:off x="548640" y="382219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1188720" y="3749040"/>
            <a:ext cx="7406640" cy="475488"/>
          </a:xfrm>
          <a:prstGeom prst="roundRect">
            <a:avLst>
              <a:gd name="adj" fmla="val 15385"/>
            </a:avLst>
          </a:prstGeom>
          <a:solidFill>
            <a:srgbClr val="161B22"/>
          </a:solidFill>
          <a:ln w="6350">
            <a:solidFill>
              <a:srgbClr val="21262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371600" y="377647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会话结束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1371600" y="3995928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Pod Terminating → 卸载卷 → 删除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754380" y="4343400"/>
            <a:ext cx="0" cy="137160"/>
          </a:xfrm>
          <a:prstGeom prst="line">
            <a:avLst/>
          </a:prstGeom>
          <a:noFill/>
          <a:ln w="19050">
            <a:solidFill>
              <a:srgbClr val="00F7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48640" y="4462272"/>
            <a:ext cx="411480" cy="411480"/>
          </a:xfrm>
          <a:prstGeom prst="ellipse">
            <a:avLst/>
          </a:prstGeom>
          <a:solidFill>
            <a:srgbClr val="F85149"/>
          </a:solidFill>
          <a:ln/>
        </p:spPr>
      </p:sp>
      <p:sp>
        <p:nvSpPr>
          <p:cNvPr id="37" name="Text 35"/>
          <p:cNvSpPr/>
          <p:nvPr/>
        </p:nvSpPr>
        <p:spPr>
          <a:xfrm>
            <a:off x="548640" y="446227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1188720" y="4389120"/>
            <a:ext cx="7406640" cy="475488"/>
          </a:xfrm>
          <a:prstGeom prst="roundRect">
            <a:avLst>
              <a:gd name="adj" fmla="val 15385"/>
            </a:avLst>
          </a:prstGeom>
          <a:solidFill>
            <a:srgbClr val="161B22"/>
          </a:solidFill>
          <a:ln w="6350">
            <a:solidFill>
              <a:srgbClr val="21262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371600" y="441655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下次会话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1371600" y="4636008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新 Pod → 挂载同一 /workspace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00F7F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服务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5943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CONTEXT PROTOCOL SERVICES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868680"/>
            <a:ext cx="8046720" cy="0"/>
          </a:xfrm>
          <a:prstGeom prst="line">
            <a:avLst/>
          </a:prstGeom>
          <a:noFill/>
          <a:ln w="12700">
            <a:solidFill>
              <a:srgbClr val="21262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1188720"/>
            <a:ext cx="1554480" cy="2377440"/>
          </a:xfrm>
          <a:prstGeom prst="roundRect">
            <a:avLst>
              <a:gd name="adj" fmla="val 4706"/>
            </a:avLst>
          </a:prstGeom>
          <a:solidFill>
            <a:srgbClr val="161B22"/>
          </a:solidFill>
          <a:ln w="6350">
            <a:solidFill>
              <a:srgbClr val="21262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5760" y="1188720"/>
            <a:ext cx="1554480" cy="54864"/>
          </a:xfrm>
          <a:prstGeom prst="rect">
            <a:avLst/>
          </a:prstGeom>
          <a:solidFill>
            <a:srgbClr val="58A6FF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37160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8A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docx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57200" y="182880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Word 文档生成/编辑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57200" y="246888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(python-docx, OOXML)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103120" y="1188720"/>
            <a:ext cx="1554480" cy="2377440"/>
          </a:xfrm>
          <a:prstGeom prst="roundRect">
            <a:avLst>
              <a:gd name="adj" fmla="val 4706"/>
            </a:avLst>
          </a:prstGeom>
          <a:solidFill>
            <a:srgbClr val="161B22"/>
          </a:solidFill>
          <a:ln w="6350">
            <a:solidFill>
              <a:srgbClr val="21262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103120" y="1188720"/>
            <a:ext cx="1554480" cy="54864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13" name="Text 11"/>
          <p:cNvSpPr/>
          <p:nvPr/>
        </p:nvSpPr>
        <p:spPr>
          <a:xfrm>
            <a:off x="2194560" y="137160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FB9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pdf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2194560" y="182880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PDF 表单填充/校验/提取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2194560" y="246888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(PyPDF2, pdfplumber)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840480" y="1188720"/>
            <a:ext cx="1554480" cy="2377440"/>
          </a:xfrm>
          <a:prstGeom prst="roundRect">
            <a:avLst>
              <a:gd name="adj" fmla="val 4706"/>
            </a:avLst>
          </a:prstGeom>
          <a:solidFill>
            <a:srgbClr val="161B22"/>
          </a:solidFill>
          <a:ln w="6350">
            <a:solidFill>
              <a:srgbClr val="21262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840480" y="1188720"/>
            <a:ext cx="1554480" cy="54864"/>
          </a:xfrm>
          <a:prstGeom prst="rect">
            <a:avLst/>
          </a:prstGeom>
          <a:solidFill>
            <a:srgbClr val="D29922"/>
          </a:solidFill>
          <a:ln/>
        </p:spPr>
      </p:sp>
      <p:sp>
        <p:nvSpPr>
          <p:cNvPr id="18" name="Text 16"/>
          <p:cNvSpPr/>
          <p:nvPr/>
        </p:nvSpPr>
        <p:spPr>
          <a:xfrm>
            <a:off x="3931920" y="137160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299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pptx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3931920" y="182880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PPT 幻灯片生成/设计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931920" y="246888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+ pptxgenjs (Node.js)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577840" y="1188720"/>
            <a:ext cx="1554480" cy="2377440"/>
          </a:xfrm>
          <a:prstGeom prst="roundRect">
            <a:avLst>
              <a:gd name="adj" fmla="val 4706"/>
            </a:avLst>
          </a:prstGeom>
          <a:solidFill>
            <a:srgbClr val="161B22"/>
          </a:solidFill>
          <a:ln w="6350">
            <a:solidFill>
              <a:srgbClr val="21262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577840" y="1188720"/>
            <a:ext cx="1554480" cy="54864"/>
          </a:xfrm>
          <a:prstGeom prst="rect">
            <a:avLst/>
          </a:prstGeom>
          <a:solidFill>
            <a:srgbClr val="F85149"/>
          </a:solidFill>
          <a:ln/>
        </p:spPr>
      </p:sp>
      <p:sp>
        <p:nvSpPr>
          <p:cNvPr id="23" name="Text 21"/>
          <p:cNvSpPr/>
          <p:nvPr/>
        </p:nvSpPr>
        <p:spPr>
          <a:xfrm>
            <a:off x="5669280" y="137160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851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xlsx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5669280" y="182880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Excel 电子表格操作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669280" y="246888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(openpyxl)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7315200" y="1188720"/>
            <a:ext cx="1554480" cy="2377440"/>
          </a:xfrm>
          <a:prstGeom prst="roundRect">
            <a:avLst>
              <a:gd name="adj" fmla="val 4706"/>
            </a:avLst>
          </a:prstGeom>
          <a:solidFill>
            <a:srgbClr val="161B22"/>
          </a:solidFill>
          <a:ln w="6350">
            <a:solidFill>
              <a:srgbClr val="21262D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315200" y="1188720"/>
            <a:ext cx="1554480" cy="54864"/>
          </a:xfrm>
          <a:prstGeom prst="rect">
            <a:avLst/>
          </a:prstGeom>
          <a:solidFill>
            <a:srgbClr val="00F7FF"/>
          </a:solidFill>
          <a:ln/>
        </p:spPr>
      </p:sp>
      <p:sp>
        <p:nvSpPr>
          <p:cNvPr id="28" name="Text 26"/>
          <p:cNvSpPr/>
          <p:nvPr/>
        </p:nvSpPr>
        <p:spPr>
          <a:xfrm>
            <a:off x="7406640" y="137160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F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browser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7406640" y="182880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浏览器自动化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7406640" y="246888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基于 CDP 协议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8412480" cy="731520"/>
          </a:xfrm>
          <a:prstGeom prst="roundRect">
            <a:avLst>
              <a:gd name="adj" fmla="val 10000"/>
            </a:avLst>
          </a:prstGeom>
          <a:solidFill>
            <a:srgbClr val="161B22"/>
          </a:solidFill>
          <a:ln w="6350">
            <a:solidFill>
              <a:srgbClr val="21262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48640" y="39319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F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通信方式:  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1554480" y="393192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Tool Host ↔ MCP 子进程  |  JSON-RPC (stdin/stdout 或 HTTP)  |  标准输入接收请求 → 标准输出返回结果 → 标准错误输出日志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00F7F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预装工具链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5943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DEVELOPMENT TOOLCHAIN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868680"/>
            <a:ext cx="8046720" cy="0"/>
          </a:xfrm>
          <a:prstGeom prst="line">
            <a:avLst/>
          </a:prstGeom>
          <a:noFill/>
          <a:ln w="12700">
            <a:solidFill>
              <a:srgbClr val="21262D"/>
            </a:solidFill>
            <a:prstDash val="solid"/>
          </a:ln>
        </p:spPr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188720"/>
          <a:ext cx="768096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2743200"/>
                <a:gridCol w="265176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F7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工具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F7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版本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F7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安装方式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32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0F6F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Node.js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8B949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v24.15.0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8B949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nvm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0F6F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Python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1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8B949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3.14.4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1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8B949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pyenv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19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0F6F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8B949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1.25.1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8B949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mise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0F6F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Rust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1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8B949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1.92.0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1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8B949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rustup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19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0F6F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8B949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2.43.0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8B949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系统包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0F6F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PHP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1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8B949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8.x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1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8B949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phpenv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19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0F6F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Bazelisk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8B949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latest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8B949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/usr/local/bin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0F6F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Composer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1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8B949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latest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1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8B949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/usr/local/bin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19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0F6F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Oh My Zsh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8B949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latest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8B949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直接安装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731520" y="4297680"/>
            <a:ext cx="7680960" cy="457200"/>
          </a:xfrm>
          <a:prstGeom prst="roundRect">
            <a:avLst>
              <a:gd name="adj" fmla="val 16000"/>
            </a:avLst>
          </a:prstGeom>
          <a:solidFill>
            <a:srgbClr val="161B22"/>
          </a:solidFill>
          <a:ln w="6350">
            <a:solidFill>
              <a:srgbClr val="21262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43434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基础 OS: Ubuntu 24.04.3 LTS (Noble Numbat)  |  架构: x86_64  |  区域: CN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00F7F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环境规格汇总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5943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SPECIFICATIONS SUMMARY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868680"/>
            <a:ext cx="8046720" cy="0"/>
          </a:xfrm>
          <a:prstGeom prst="line">
            <a:avLst/>
          </a:prstGeom>
          <a:noFill/>
          <a:ln w="12700">
            <a:solidFill>
              <a:srgbClr val="21262D"/>
            </a:solidFill>
            <a:prstDash val="solid"/>
          </a:ln>
        </p:spPr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097280"/>
          <a:ext cx="804672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576072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F7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组件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F7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规格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3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0F6F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基础镜像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8B949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trae/ai_agent/tool_host:1.0.0.573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0F6F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镜像版本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1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8B949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b5e0d70ed042660399cdae684b1bf84da171e253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1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0F6F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基础 OS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8B949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Ubuntu 24.04.3 LTS (Noble Numbat)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0F6F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容器运行时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1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8B949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Docker + containerd + Kata Containers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1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0F6F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编排平台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8B949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Kubernetes v1.32.3-vke.10 (火山引擎 VKE)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0F6F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物理 CPU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1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8B949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Intel Xeon Platinum 8457C (Sapphire Rapids)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1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0F6F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vCPU / 内存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8B949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核 / ~4 GB (3.8 GiB)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0F6F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磁盘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1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8B949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 GB (已用 ~32 GB，可用 ~7.6 GB)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1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0F6F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沙盒 IP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8B949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10.54.x.x/12 (私网)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0F6F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公网访问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1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8B949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出站 NAT，入站不可达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1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0F6F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虚拟化平台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8B949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OpenStack Nova / ByteDance Inc.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609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00F7FF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645920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731520" y="256032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F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对话数据流架构 · Architecture Overview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347472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完整文档见 ARCHITECTURE.md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对话数据流架构</dc:title>
  <dc:subject>PptxGenJS Presentation</dc:subject>
  <dc:creator>Trae AI</dc:creator>
  <cp:lastModifiedBy>Trae AI</cp:lastModifiedBy>
  <cp:revision>1</cp:revision>
  <dcterms:created xsi:type="dcterms:W3CDTF">2026-06-06T15:33:50Z</dcterms:created>
  <dcterms:modified xsi:type="dcterms:W3CDTF">2026-06-06T15:33:50Z</dcterms:modified>
</cp:coreProperties>
</file>